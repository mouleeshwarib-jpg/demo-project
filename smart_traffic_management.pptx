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75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32863"/>
            <a:ext cx="2641550" cy="800100"/>
          </a:xfrm>
          <a:prstGeom prst="roundRect">
            <a:avLst>
              <a:gd name="adj" fmla="val 2514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1150" y="4332863"/>
            <a:ext cx="2641550" cy="800100"/>
          </a:xfrm>
          <a:prstGeom prst="roundRect">
            <a:avLst>
              <a:gd name="adj" fmla="val 2514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4332863"/>
            <a:ext cx="2641699" cy="800100"/>
          </a:xfrm>
          <a:prstGeom prst="roundRect">
            <a:avLst>
              <a:gd name="adj" fmla="val 2514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4904" y="-248543"/>
            <a:ext cx="8394192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375"/>
              </a:lnSpc>
              <a:buNone/>
            </a:pPr>
            <a:r>
              <a:rPr lang="en-US" sz="8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🚦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457200" y="1475482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0"/>
              </a:lnSpc>
              <a:buNone/>
            </a:pPr>
            <a:r>
              <a:rPr lang="en-US" sz="4800" b="1" dirty="0">
                <a:solidFill>
                  <a:srgbClr val="7C3AED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Smart Traffic Management System</a:t>
            </a:r>
            <a:endParaRPr lang="en-US" sz="4800" dirty="0">
              <a:latin typeface="Agency FB" panose="020B0503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74904" y="3913882"/>
            <a:ext cx="839419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560" dirty="0">
                <a:solidFill>
                  <a:srgbClr val="94A3B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Urban Congestion Reduction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601717" y="4492883"/>
            <a:ext cx="23525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1717" y="4782443"/>
            <a:ext cx="23525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control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95667" y="4492883"/>
            <a:ext cx="23525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95667" y="4782443"/>
            <a:ext cx="23525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sensing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89616" y="4492883"/>
            <a:ext cx="23526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89616" y="4782443"/>
            <a:ext cx="23526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mobility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3339" y="1028700"/>
            <a:ext cx="1333500" cy="1333500"/>
          </a:xfrm>
          <a:prstGeom prst="roundRect">
            <a:avLst>
              <a:gd name="adj" fmla="val 6850286"/>
            </a:avLst>
          </a:prstGeom>
          <a:solidFill>
            <a:srgbClr val="7C3AED">
              <a:alpha val="3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691009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Urban Congestion Problem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05409"/>
            <a:ext cx="8229600" cy="274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Rapid urban growth increases vehicle volume faster than road capacity, causing recurring peak-hour congestion.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Fixed-time traffic signals cannot react to sudden lane-wise traffic changes or incident-driven queues.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Congestion increases travel delay, fuel waste, driver stress, and unreliability in daily commuting.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Urban transport challenges also affect livability, safety, parking demand, and public transport reliability.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Mixed traffic with cars, buses, cyclists, and pedestrians makes intersection management more complex.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6860"/>
            <a:ext cx="4363426" cy="2867979"/>
          </a:xfrm>
          <a:prstGeom prst="roundRect">
            <a:avLst>
              <a:gd name="adj" fmla="val 7295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63426" y="1577815"/>
            <a:ext cx="4431792" cy="2867979"/>
          </a:xfrm>
          <a:prstGeom prst="roundRect">
            <a:avLst>
              <a:gd name="adj" fmla="val 7295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697706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Why Smart Management Matters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4780" y="1840706"/>
            <a:ext cx="3738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Policy pressure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4780" y="2221706"/>
            <a:ext cx="3665339" cy="196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Congestion costs European economies about 80 billion euros annually.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Urban areas account for 23% of transport CO2 emissions.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Urban areas represent 38% of Europe’s road fatalities.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Cities need throughput, safety, sustainability, and livability together.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53880" y="1840706"/>
            <a:ext cx="3738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Mobility shift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53880" y="2221706"/>
            <a:ext cx="3665339" cy="1965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systems support public transport, walking, and cycling with real-time information.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control reduces unnecessary idling at intersections.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 centres can coordinate cameras, detectors, and operators in real time.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Data-led planning improves selection of measures for local bottlenecks.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63801" y="1028700"/>
            <a:ext cx="2616250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70550" y="10287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1623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63801" y="3162300"/>
            <a:ext cx="2616250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0550" y="31623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810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System Objectives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4780" y="1181100"/>
            <a:ext cx="2326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⏱️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4780" y="16002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 delay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780" y="19050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Minimize waiting time by giving dynamic green time to high-density lanes and balancing queue lengths.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31381" y="1181100"/>
            <a:ext cx="2326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🛡️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431381" y="1600200"/>
            <a:ext cx="232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safety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1381" y="1905000"/>
            <a:ext cx="2281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safer intersections through monitoring, violation awareness, and faster emergency vehicle passage.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8131" y="1181100"/>
            <a:ext cx="2326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🌱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238131" y="16002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emissions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8131" y="1905000"/>
            <a:ext cx="22809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Cut idle time, stop-and-go traffic, and fuel wastage to improve urban air quality.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780" y="3314700"/>
            <a:ext cx="2326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🚌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24780" y="37338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multimodality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780" y="40386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buses, pedestrians, cyclists, and non-motorized transport into one decision framework.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31381" y="3314700"/>
            <a:ext cx="2326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📊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431381" y="3733800"/>
            <a:ext cx="232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31381" y="4038600"/>
            <a:ext cx="2281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actionable data for traffic authorities, planners, and smart city command centres.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8131" y="3314700"/>
            <a:ext cx="2326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🚓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238131" y="37338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Priority movement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8131" y="40386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 signal priority for ambulances, fire services, police, and in some cases public transport fleets.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11325"/>
            <a:ext cx="4000500" cy="3511451"/>
          </a:xfrm>
          <a:prstGeom prst="roundRect">
            <a:avLst>
              <a:gd name="adj" fmla="val 5728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11325"/>
            <a:ext cx="4000500" cy="3511451"/>
          </a:xfrm>
          <a:prstGeom prst="roundRect">
            <a:avLst>
              <a:gd name="adj" fmla="val 5728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2072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Core Components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4780" y="1463725"/>
            <a:ext cx="3665339" cy="310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 sensors, cameras, induction loops, and IoT devices collect lane-wise vehicle data continuously.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Computer vision models detect vehicles, classify flow, and estimate density from live video streams.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analytics engines process counts, speed, queue length, and intersection state.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signal controllers modify red-green timing according to current congestion patterns.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Dashboards display live video, counts, alerts, and signal status for operators.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53880" y="1463725"/>
            <a:ext cx="3665339" cy="248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Communication links connect intersections to a central traffic management centre.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Emergency detection modules identify ambulances and assign green priority paths.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Routing and information systems can guide drivers toward less congested corridors.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transport integration improves punctuality and service quality on busy routes.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or edge infrastructure supports storage, processing, and system scalability.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47800"/>
            <a:ext cx="2616101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63801" y="1447800"/>
            <a:ext cx="2616250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70550" y="1447800"/>
            <a:ext cx="2616101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162300"/>
            <a:ext cx="2616101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63801" y="3162300"/>
            <a:ext cx="2616250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0550" y="3162300"/>
            <a:ext cx="2616101" cy="1524000"/>
          </a:xfrm>
          <a:prstGeom prst="roundRect">
            <a:avLst>
              <a:gd name="adj" fmla="val 13200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Working Process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4780" y="16002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780" y="19050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system accepts webcam feeds, traffic videos, or simulation input for analysis and testing.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31381" y="1600200"/>
            <a:ext cx="232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31381" y="1905000"/>
            <a:ext cx="2281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Vehicles are detected, tracked, and separated from the background using vision algorithms.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8131" y="16002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Counting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8131" y="19050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vehicle is mapped to a lane so the system knows current queue length and lane load.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780" y="33147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Decision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780" y="36195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 logic selects the next green phase based on density, movement pattern, and priorities.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31381" y="3314700"/>
            <a:ext cx="232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Signal update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31381" y="3619500"/>
            <a:ext cx="2281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Traffic lights switch red and green dynamically to improve throughput and reduce idle time.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8131" y="33147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6.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8131" y="36195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Operators monitor live counts, signal states, and performance in a visual control interface.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287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63801" y="1028700"/>
            <a:ext cx="2616250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70550" y="10287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31623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63801" y="3162300"/>
            <a:ext cx="2616250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70550" y="3162300"/>
            <a:ext cx="2616101" cy="1943100"/>
          </a:xfrm>
          <a:prstGeom prst="roundRect">
            <a:avLst>
              <a:gd name="adj" fmla="val 10352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810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Technologies Used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4780" y="1181100"/>
            <a:ext cx="2326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🤖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4780" y="16002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780" y="19050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models learn congestion patterns and support predictive signal optimization.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31381" y="1181100"/>
            <a:ext cx="2326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👁️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431381" y="1600200"/>
            <a:ext cx="232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31381" y="1905000"/>
            <a:ext cx="2281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YOLO and OpenCV-based methods can detect and track vehicles from live feeds.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8131" y="1181100"/>
            <a:ext cx="2326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📡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238131" y="16002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IoT Sensors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8131" y="1905000"/>
            <a:ext cx="22809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Connected devices stream traffic data from intersections to control platforms.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780" y="3314700"/>
            <a:ext cx="2326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☁️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24780" y="37338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 &amp; Edge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780" y="4038600"/>
            <a:ext cx="2280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Distributed computing supports low-latency decisions and centralized storage.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31381" y="3314700"/>
            <a:ext cx="2326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📍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431381" y="3733800"/>
            <a:ext cx="2326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GIS &amp; Routing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31381" y="4038600"/>
            <a:ext cx="22810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Location systems and traffic information help manage route diversion and navigation.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8131" y="3314700"/>
            <a:ext cx="23265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📈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238131" y="3733800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8131" y="4038600"/>
            <a:ext cx="22809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Dashboards and reports convert raw traffic data into planning insights and KPIs.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17005"/>
            <a:ext cx="4000500" cy="3100090"/>
          </a:xfrm>
          <a:prstGeom prst="roundRect">
            <a:avLst>
              <a:gd name="adj" fmla="val 6489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517005"/>
            <a:ext cx="4000500" cy="3100090"/>
          </a:xfrm>
          <a:prstGeom prst="roundRect">
            <a:avLst>
              <a:gd name="adj" fmla="val 6489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52640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Benefits for Cities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4780" y="1669405"/>
            <a:ext cx="3665339" cy="2688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Adaptive signal timing reduces unnecessary delay and smooths traffic at overloaded intersections.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Priority handling improves response time for ambulances, police, and fire services.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control helps public transport move more reliably through congested corridors.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Continuous monitoring supports faster incident recognition and coordinated intervention.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network performance improves commuter experience and urban productivity.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53880" y="1669405"/>
            <a:ext cx="3665339" cy="248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idling and fewer stop-start cycles reduce fuel consumption and emissions.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Integrated information can encourage modal shift toward public transport and cycling.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Collected traffic data helps authorities plan junction redesign and future infrastructure.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Scalable architecture fits broader smart city platforms and command centres.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Digital control frameworks can be extended to parking, freight, and access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925711"/>
            <a:ext cx="1143000" cy="1143000"/>
          </a:xfrm>
          <a:prstGeom prst="roundRect">
            <a:avLst>
              <a:gd name="adj" fmla="val 7992000"/>
            </a:avLst>
          </a:prstGeom>
          <a:solidFill>
            <a:srgbClr val="06B6D4">
              <a:alpha val="3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806648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Challenges and Risks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721048"/>
            <a:ext cx="8229600" cy="250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Initial deployment costs include sensors, networking, controllers, cameras, and software integration.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accuracy depends on reliable video quality, maintenance, and weather-tolerant detection models.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privacy, cybersecurity, and secure communication channels must be addressed from the start.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Legacy traffic infrastructure may require upgrade or replacement before smart control can be added.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acceptance and inter-agency coordination are necessary for successful implementation.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6505"/>
            <a:ext cx="4000500" cy="3481090"/>
          </a:xfrm>
          <a:prstGeom prst="roundRect">
            <a:avLst>
              <a:gd name="adj" fmla="val 5778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326505"/>
            <a:ext cx="4000500" cy="3481090"/>
          </a:xfrm>
          <a:prstGeom prst="roundRect">
            <a:avLst>
              <a:gd name="adj" fmla="val 57789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3590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Implementation Strategy</a:t>
            </a:r>
            <a:endParaRPr lang="en-US" sz="3600" dirty="0">
              <a:latin typeface="Agency FB" panose="020B0503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4780" y="1478905"/>
            <a:ext cx="3738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Planning steps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4780" y="1859905"/>
            <a:ext cx="3665339" cy="2688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policy goals, indicators, and target corridors before selecting technology.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current bottlenecks using traffic volumes, time-of-day data, and operator input.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 services such as flow control, information, demand management, or route redistribution.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Translate services into realistic measures with cost, feasibility, and impact assessment.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Prioritize measures based on bottleneck severity, budget, and stakeholder support.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53880" y="1478905"/>
            <a:ext cx="3738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6B6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Deployment 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53880" y="1859905"/>
            <a:ext cx="3665339" cy="248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Start with high-congestion intersections and pilot corridors for measurable early results.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open standards and data formats to avoid vendor lock-in.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Integrate control rooms, emergency agencies, and public transport operators.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Track KPIs such as delay, queue length, throughput, and incident response time.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Scale citywide after validation of performance and public acceptance.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148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4780" y="75628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2303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4780" y="172783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39458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4780" y="269938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36613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4780" y="367093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4337685"/>
            <a:ext cx="8229600" cy="781050"/>
          </a:xfrm>
          <a:prstGeom prst="roundRect">
            <a:avLst>
              <a:gd name="adj" fmla="val 25756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4780" y="4642485"/>
            <a:ext cx="7894439" cy="171450"/>
          </a:xfrm>
          <a:prstGeom prst="roundRect">
            <a:avLst>
              <a:gd name="adj" fmla="val 5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 fontScale="475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2608" y="-169545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2800" b="1" dirty="0">
                <a:solidFill>
                  <a:srgbClr val="F1F5F9"/>
                </a:solidFill>
                <a:latin typeface="Agency FB" panose="020B0503020202020204" pitchFamily="34" charset="0"/>
                <a:ea typeface="Instrument Serif" pitchFamily="34" charset="-122"/>
                <a:cs typeface="Instrument Serif" pitchFamily="34" charset="-120"/>
              </a:rPr>
              <a:t>Expected Performance Areas</a:t>
            </a:r>
            <a:endParaRPr lang="en-US" sz="2800" dirty="0">
              <a:latin typeface="Agency FB" panose="020B0503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4780" y="741045"/>
            <a:ext cx="165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Reduced signal delay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96039" y="741045"/>
            <a:ext cx="941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780" y="1712595"/>
            <a:ext cx="22426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Emergency priority response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6498" y="1712595"/>
            <a:ext cx="131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Very high impact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780" y="2684145"/>
            <a:ext cx="20139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Emission and fuel savings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12211" y="2684145"/>
            <a:ext cx="13331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Moderate to high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4780" y="3655695"/>
            <a:ext cx="199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transport reliability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96039" y="3655695"/>
            <a:ext cx="9416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780" y="4627245"/>
            <a:ext cx="1974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city planning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68766" y="4627245"/>
            <a:ext cx="1275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Long-term value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260" y="2117437"/>
            <a:ext cx="8229600" cy="2920454"/>
          </a:xfrm>
          <a:prstGeom prst="roundRect">
            <a:avLst>
              <a:gd name="adj" fmla="val 68882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  <a:effectLst>
            <a:outerShdw blurRad="285750" dist="95250" dir="5400000" algn="bl" rotWithShape="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904" y="-123766"/>
            <a:ext cx="8394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0"/>
              </a:lnSpc>
              <a:buNone/>
            </a:pPr>
            <a:r>
              <a:rPr lang="en-US" sz="7200" dirty="0">
                <a:solidFill>
                  <a:srgbClr val="F1F5F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🌆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74904" y="1263997"/>
            <a:ext cx="8394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800" b="1" dirty="0">
                <a:solidFill>
                  <a:srgbClr val="7C3AE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24780" y="2635597"/>
            <a:ext cx="7894439" cy="250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traffic management replaces static control with adaptive, data-driven decision making.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combines AI, sensors, analytics, and signal automation to reduce congestion and improve mobility.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system supports safety, emergency response, sustainability, and public transport efficiency.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Successful deployment requires phased implementation, secure infrastructure, and stakeholder coordination.</a:t>
            </a:r>
            <a:endParaRPr lang="en-US" sz="13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is a practical step toward smarter, safer, and more sustainable urban transport networks.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1119</Words>
  <Application>Microsoft Office PowerPoint</Application>
  <PresentationFormat>On-screen Show (16:9)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Agency FB</vt:lpstr>
      <vt:lpstr>Arial</vt:lpstr>
      <vt:lpstr>Instrument Serif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Kowshiek R</cp:lastModifiedBy>
  <cp:revision>4</cp:revision>
  <dcterms:created xsi:type="dcterms:W3CDTF">2026-06-27T08:43:50Z</dcterms:created>
  <dcterms:modified xsi:type="dcterms:W3CDTF">2026-06-27T09:08:45Z</dcterms:modified>
</cp:coreProperties>
</file>