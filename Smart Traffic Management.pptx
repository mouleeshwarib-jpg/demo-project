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755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32863"/>
            <a:ext cx="2641550" cy="800100"/>
          </a:xfrm>
          <a:prstGeom prst="roundRect">
            <a:avLst>
              <a:gd name="adj" fmla="val 2514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1150" y="4332863"/>
            <a:ext cx="2641550" cy="800100"/>
          </a:xfrm>
          <a:prstGeom prst="roundRect">
            <a:avLst>
              <a:gd name="adj" fmla="val 2514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4332863"/>
            <a:ext cx="2641699" cy="800100"/>
          </a:xfrm>
          <a:prstGeom prst="roundRect">
            <a:avLst>
              <a:gd name="adj" fmla="val 2514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4904" y="-248543"/>
            <a:ext cx="8394192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75"/>
              </a:lnSpc>
              <a:buNone/>
            </a:pPr>
            <a:r>
              <a:rPr lang="en-US" sz="8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🚦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457200" y="1475482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0"/>
              </a:lnSpc>
              <a:buNone/>
            </a:pPr>
            <a:r>
              <a:rPr lang="en-US" sz="4800" b="1" dirty="0">
                <a:solidFill>
                  <a:srgbClr val="7C3AED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Smart Traffic Management System</a:t>
            </a:r>
            <a:endParaRPr lang="en-US" sz="4800" dirty="0">
              <a:latin typeface="Agency FB" panose="020B05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4904" y="3913882"/>
            <a:ext cx="839419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56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Urban Congestion Reduction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601717" y="4492883"/>
            <a:ext cx="23525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1717" y="4782443"/>
            <a:ext cx="23525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Adaptive control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95667" y="4492883"/>
            <a:ext cx="23525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95667" y="4782443"/>
            <a:ext cx="23525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sensing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89616" y="4492883"/>
            <a:ext cx="23526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89616" y="4782443"/>
            <a:ext cx="23526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Integrated mobility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91009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chemeClr val="accent6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Urban Congestion Problem</a:t>
            </a:r>
            <a:endParaRPr lang="en-US" sz="36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05409"/>
            <a:ext cx="8229600" cy="274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Rapid urban growth increases vehicle volume faster than road capacity, causing recurring peak-hour congestion.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Fixed-time traffic signals cannot react to sudden lane-wise traffic changes or incident-driven queues.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Congestion increases travel delay, fuel waste, driver stress, and unreliability in daily commuting.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Urban transport challenges also affect livability, safety, parking demand, and public transport reliability.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Mixed traffic with cars, buses, cyclists, and pedestrians makes intersection management more complex.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326" y="1546860"/>
            <a:ext cx="4229100" cy="2867979"/>
          </a:xfrm>
          <a:prstGeom prst="roundRect">
            <a:avLst>
              <a:gd name="adj" fmla="val 7295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63426" y="1577815"/>
            <a:ext cx="4431792" cy="2867979"/>
          </a:xfrm>
          <a:prstGeom prst="roundRect">
            <a:avLst>
              <a:gd name="adj" fmla="val 7295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97706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chemeClr val="accent6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Why Smart Management Matters</a:t>
            </a:r>
            <a:endParaRPr lang="en-US" sz="36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07366" y="1840706"/>
            <a:ext cx="34560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Policy pressure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4780" y="2221706"/>
            <a:ext cx="3665339" cy="196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Congestion costs European economies about 80 billion euros annually.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Urban areas account for 23% of transport CO2 emissions.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Urban areas represent 38% of Europe’s road fatalities.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Cities need throughput, safety, sustainability, and livability together.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36466" y="1829395"/>
            <a:ext cx="35914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Mobility shift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53880" y="2221706"/>
            <a:ext cx="3665339" cy="196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systems support public transport, walking, and cycling with real-time information.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Adaptive control reduces unnecessary idling at intersections.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Traffic centres can coordinate cameras, detectors, and operators in real time.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Data-led planning improves selection of measures for local bottlenecks.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58" y="1085557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69398" y="1085557"/>
            <a:ext cx="2761132" cy="1876278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48588" y="1044819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8878" y="3181057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18919" y="3143250"/>
            <a:ext cx="2616250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48589" y="3204796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8100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chemeClr val="accent6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System Objectives</a:t>
            </a:r>
            <a:endParaRPr lang="en-US" sz="36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1970" y="1371600"/>
            <a:ext cx="23265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⏱️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74289" y="1413217"/>
            <a:ext cx="19314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 delay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780" y="19050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Minimize waiting time by giving dynamic green time to high-density lanes and balancing queue lengths.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9278" y="1413218"/>
            <a:ext cx="2388813" cy="3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🛡️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784210" y="1470368"/>
            <a:ext cx="1973882" cy="3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 safety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7001" y="1905000"/>
            <a:ext cx="2235469" cy="81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 safer intersections through monitoring, violation awareness, and faster emergency vehicle passage.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3023" y="1405304"/>
            <a:ext cx="2391667" cy="312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🌱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604782" y="1470368"/>
            <a:ext cx="1959908" cy="3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Lower emissions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8131" y="1905000"/>
            <a:ext cx="22809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Cut idle time, stop-and-go traffic, and fuel wastage to improve urban air quality.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9310" y="3505200"/>
            <a:ext cx="2372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🚌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74289" y="3573194"/>
            <a:ext cx="1977050" cy="389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 multimodality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1970" y="3925765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 buses, pedestrians, cyclists, and non-motorized transport into one decision framework.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7001" y="3418449"/>
            <a:ext cx="2281089" cy="23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📊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889718" y="3461824"/>
            <a:ext cx="1868374" cy="54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057" y="3932798"/>
            <a:ext cx="2348414" cy="1020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 actionable data for traffic authorities, planners, and smart city command centres.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83750" y="3418448"/>
            <a:ext cx="2280940" cy="425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🚓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697930" y="3491132"/>
            <a:ext cx="1889570" cy="593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Priority movement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8131" y="3916387"/>
            <a:ext cx="2280940" cy="1036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 signal priority for ambulances, fire services, police, and in some cases public transport fleets.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4213" y="1311325"/>
            <a:ext cx="4532085" cy="3511451"/>
          </a:xfrm>
          <a:prstGeom prst="roundRect">
            <a:avLst>
              <a:gd name="adj" fmla="val 5728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006525"/>
            <a:ext cx="4457700" cy="3816251"/>
          </a:xfrm>
          <a:prstGeom prst="roundRect">
            <a:avLst>
              <a:gd name="adj" fmla="val 5728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20725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chemeClr val="accent6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Core Components</a:t>
            </a:r>
            <a:endParaRPr lang="en-US" sz="36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4780" y="1899154"/>
            <a:ext cx="3665339" cy="310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Traffic sensors, cameras, induction loops, and IoT devices collect lane-wise vehicle data continuously.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Computer vision models detect vehicles, classify flow, and estimate density from live video streams.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analytics engines process counts, speed, queue length, and intersection state.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Adaptive signal controllers modify red-green timing according to current congestion patterns.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Dashboards display live video, counts, alerts, and signal status for operators.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89951" y="1825526"/>
            <a:ext cx="3665339" cy="248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Communication links connect intersections to a central traffic management centre.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Emergency detection modules identify ambulances and assign green priority paths.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Routing and information systems can guide drivers toward less congested corridors.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transport integration improves punctuality and service quality on busy routes.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 or edge infrastructure supports storage, processing, and system scalability.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47800"/>
            <a:ext cx="2616101" cy="1524000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2338" y="1447800"/>
            <a:ext cx="2616250" cy="1524000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70550" y="1447800"/>
            <a:ext cx="2616101" cy="1524000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9398" y="3168021"/>
            <a:ext cx="2616101" cy="1524000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63801" y="3162300"/>
            <a:ext cx="2616250" cy="1524000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02010" y="3147303"/>
            <a:ext cx="2616101" cy="1524000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chemeClr val="accent6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Working Process</a:t>
            </a:r>
            <a:endParaRPr lang="en-US" sz="36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6742" y="1664607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0399" y="20193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system accepts webcam feeds, traffic videos, or simulation input for analysis and testing.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21878" y="1638300"/>
            <a:ext cx="232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31381" y="1905000"/>
            <a:ext cx="2281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Vehicles are detected, tracked, and separated from the background using vision algorithms.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60092" y="1623303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Counting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8131" y="19050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Each vehicle is mapped to a lane so the system knows current queue length and lane load.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780" y="33147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Decision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780" y="36195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 logic selects the next green phase based on density, movement pattern, and priorities.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53341" y="3314700"/>
            <a:ext cx="232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 Signal update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31381" y="3619500"/>
            <a:ext cx="2281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Traffic lights switch red and green dynamically to improve throughput and reduce idle time.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8131" y="33147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6.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8131" y="36195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Operators monitor live counts, signal states, and performance in a visual control interface.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828" y="1066800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84508" y="1012874"/>
            <a:ext cx="2616250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337" y="1028700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828" y="3188677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41841" y="3187210"/>
            <a:ext cx="2616250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70550" y="3162300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8100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chemeClr val="accent6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Technologies Used</a:t>
            </a:r>
            <a:endParaRPr lang="en-US" sz="36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9616" y="1333500"/>
            <a:ext cx="22809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🤖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99565" y="1409700"/>
            <a:ext cx="19173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780" y="19050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models learn congestion patterns and support predictive signal optimization.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7001" y="1333500"/>
            <a:ext cx="2281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👁️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882683" y="1409700"/>
            <a:ext cx="187540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31381" y="1905000"/>
            <a:ext cx="2281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YOLO and OpenCV-based methods can detect and track vehicles from live feeds.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8131" y="1333500"/>
            <a:ext cx="23265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📡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590714" y="1409700"/>
            <a:ext cx="197397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IoT Sensors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8131" y="1905000"/>
            <a:ext cx="22809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Connected devices stream traffic data from intersections to control platforms.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780" y="3523956"/>
            <a:ext cx="2326559" cy="13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63638" y="3404381"/>
            <a:ext cx="1987702" cy="253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☁️</a:t>
            </a: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Cloud &amp; Edge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2172" y="3848100"/>
            <a:ext cx="190213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Distributed computing supports low-latency decisions and centralized storage.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14149" y="3429000"/>
            <a:ext cx="22439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📍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882683" y="3460946"/>
            <a:ext cx="1875407" cy="438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GIS &amp; Routing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5463" y="3888836"/>
            <a:ext cx="2327007" cy="1064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Location systems and traffic information help manage route diversion and navigation.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86732" y="3429000"/>
            <a:ext cx="2177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📈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808762" y="3460946"/>
            <a:ext cx="1755927" cy="50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8131" y="3899390"/>
            <a:ext cx="2280940" cy="825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Dashboards and reports convert raw traffic data into planning insights and KPIs.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822" y="1233306"/>
            <a:ext cx="4310742" cy="3301766"/>
          </a:xfrm>
          <a:prstGeom prst="roundRect">
            <a:avLst>
              <a:gd name="adj" fmla="val 50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1315329"/>
            <a:ext cx="4404178" cy="3301766"/>
          </a:xfrm>
          <a:prstGeom prst="roundRect">
            <a:avLst>
              <a:gd name="adj" fmla="val 3024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526405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chemeClr val="accent6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Benefits for Cities</a:t>
            </a:r>
            <a:endParaRPr lang="en-US" sz="36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4780" y="1723292"/>
            <a:ext cx="3665339" cy="2634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Adaptive signal timing reduces unnecessary delay and smooths traffic at overloaded intersections.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Priority handling improves response time for ambulances, police, and fire services.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control helps public transport move more reliably through congested corridors.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Continuous monitoring supports faster incident recognition and coordinated intervention.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Better network performance improves commuter experience and urban productivity.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5521" y="1723291"/>
            <a:ext cx="3373907" cy="2429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Lower idling and fewer stop-start cycles reduce fuel consumption and emissions.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Integrated information can encourage modal shift toward public transport and cycling.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Collected traffic data helps authorities plan junction redesign and future infrastructure.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Scalable architecture fits broader smart city platforms and command centres.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Digital control frameworks can be extended to parking, freight, and access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06648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chemeClr val="accent6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Challenges and Risks</a:t>
            </a:r>
            <a:endParaRPr lang="en-US" sz="36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721048"/>
            <a:ext cx="8229600" cy="2509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Initial deployment costs include sensors, networking, controllers, cameras, and software integration.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accuracy depends on reliable video quality, maintenance, and weather-tolerant detection models.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privacy, cybersecurity, and secure communication channels must be addressed from the start.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Legacy traffic infrastructure may require upgrade or replacement before smart control can be added.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acceptance and inter-agency coordination are necessary for successful implementation.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7" y="1277267"/>
            <a:ext cx="4061519" cy="3386172"/>
          </a:xfrm>
          <a:prstGeom prst="roundRect">
            <a:avLst>
              <a:gd name="adj" fmla="val 5778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25283" y="1277267"/>
            <a:ext cx="4061517" cy="3530327"/>
          </a:xfrm>
          <a:prstGeom prst="roundRect">
            <a:avLst>
              <a:gd name="adj" fmla="val 5778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35905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chemeClr val="accent6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Implementation Strategy</a:t>
            </a:r>
            <a:endParaRPr lang="en-US" sz="36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48972" y="1478905"/>
            <a:ext cx="29144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Planning steps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2361" y="1969477"/>
            <a:ext cx="3665339" cy="261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    Define policy goals, indicators, and target corridor                       before selecting technology.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 current bottlenecks using traffic volumes, time-of-day data, and operator input.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 services such as flow control, information, demand management, or route redistribution.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Translate services into realistic measures with cost, feasibility, and impact assessment.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Prioritize measures based on bottleneck severity, budget, and stakeholder support.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25550" y="1478905"/>
            <a:ext cx="2866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Deployment focus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53880" y="1859905"/>
            <a:ext cx="3665339" cy="248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Start with high-congestion intersections and pilot corridors for measurable early results.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open standards and data formats to avoid vendor lock-in.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 control rooms, emergency agencies, and public transport operators.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Track KPIs such as delay, queue length, throughput, and incident response time.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Scale citywide after validation of performance and public acceptance.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1485"/>
            <a:ext cx="8229600" cy="781050"/>
          </a:xfrm>
          <a:prstGeom prst="roundRect">
            <a:avLst>
              <a:gd name="adj" fmla="val 25756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4780" y="756285"/>
            <a:ext cx="7894439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423035"/>
            <a:ext cx="8229600" cy="781050"/>
          </a:xfrm>
          <a:prstGeom prst="roundRect">
            <a:avLst>
              <a:gd name="adj" fmla="val 25756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4780" y="1727835"/>
            <a:ext cx="7894439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394585"/>
            <a:ext cx="8229600" cy="781050"/>
          </a:xfrm>
          <a:prstGeom prst="roundRect">
            <a:avLst>
              <a:gd name="adj" fmla="val 25756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4780" y="2699385"/>
            <a:ext cx="7894439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366135"/>
            <a:ext cx="8229600" cy="781050"/>
          </a:xfrm>
          <a:prstGeom prst="roundRect">
            <a:avLst>
              <a:gd name="adj" fmla="val 25756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4780" y="3670935"/>
            <a:ext cx="7894439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4337685"/>
            <a:ext cx="8229600" cy="781050"/>
          </a:xfrm>
          <a:prstGeom prst="roundRect">
            <a:avLst>
              <a:gd name="adj" fmla="val 25756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4780" y="4642485"/>
            <a:ext cx="7894439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2608" y="-169545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2800" b="1" dirty="0">
                <a:solidFill>
                  <a:schemeClr val="accent6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Expected Performance Areas</a:t>
            </a:r>
            <a:endParaRPr lang="en-US" sz="28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4780" y="741045"/>
            <a:ext cx="165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signal delay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96039" y="741045"/>
            <a:ext cx="941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impact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780" y="1712595"/>
            <a:ext cx="22426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Emergency priority response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6498" y="1712595"/>
            <a:ext cx="131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Very high impact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780" y="2684145"/>
            <a:ext cx="2013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Emission and fuel savings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12211" y="2684145"/>
            <a:ext cx="1333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 to high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4780" y="3655695"/>
            <a:ext cx="199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transport reliability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96039" y="3655695"/>
            <a:ext cx="941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impact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780" y="4627245"/>
            <a:ext cx="1974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city planning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8766" y="4627245"/>
            <a:ext cx="1275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Long-term value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260" y="2117437"/>
            <a:ext cx="8229600" cy="2920454"/>
          </a:xfrm>
          <a:prstGeom prst="roundRect">
            <a:avLst>
              <a:gd name="adj" fmla="val 68882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904" y="-123766"/>
            <a:ext cx="8394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0"/>
              </a:lnSpc>
              <a:buNone/>
            </a:pPr>
            <a:r>
              <a:rPr lang="en-US" sz="720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🌆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74904" y="1263997"/>
            <a:ext cx="8394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800" b="1" dirty="0">
                <a:solidFill>
                  <a:srgbClr val="7C3AE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24780" y="2635597"/>
            <a:ext cx="7894439" cy="2509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traffic management replaces static control with adaptive, data-driven decision making.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combines AI, sensors, analytics, and signal automation to reduce congestion and improve mobility.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system supports safety, emergency response, sustainability, and public transport efficiency.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Successful deployment requires phased implementation, secure infrastructure, and stakeholder coordination.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is a practical step toward smarter, safer, and more sustainable urban transport networks.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1120</Words>
  <Application>Microsoft Office PowerPoint</Application>
  <PresentationFormat>On-screen Show (16:9)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Instrument Serif</vt:lpstr>
      <vt:lpstr>ui-sans-serif</vt:lpstr>
      <vt:lpstr>Agency FB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Mouleeshwari B</cp:lastModifiedBy>
  <cp:revision>9</cp:revision>
  <dcterms:created xsi:type="dcterms:W3CDTF">2026-06-27T08:43:50Z</dcterms:created>
  <dcterms:modified xsi:type="dcterms:W3CDTF">2026-07-04T10:04:14Z</dcterms:modified>
</cp:coreProperties>
</file>